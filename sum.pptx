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61" r:id="rId4"/>
    <p:sldId id="260" r:id="rId5"/>
    <p:sldId id="259" r:id="rId6"/>
    <p:sldId id="266" r:id="rId7"/>
    <p:sldId id="257" r:id="rId8"/>
    <p:sldId id="264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696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311C25-0134-442E-B31F-49BC62ABBE79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 smtClean="0"/>
              <a:t>Editați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E140A-BAE6-438E-BB2C-D669ACB77C3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33282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E140A-BAE6-438E-BB2C-D669ACB77C3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88253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AE140A-BAE6-438E-BB2C-D669ACB77C3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53517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u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o-RO" smtClean="0"/>
              <a:t>Faceți clic pentru a edita stilul de subtitlu coordonator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8A70-CFE3-4A00-B602-2C8D0D30D6B0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B3049-51BA-4791-A1B5-7CABA09CE8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44289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Editați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8A70-CFE3-4A00-B602-2C8D0D30D6B0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B3049-51BA-4791-A1B5-7CABA09CE8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76946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Editați stilurile de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8A70-CFE3-4A00-B602-2C8D0D30D6B0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B3049-51BA-4791-A1B5-7CABA09CE8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57966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o-RO" smtClean="0"/>
              <a:t>Editați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o-RO" smtClean="0"/>
              <a:t>Editați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8A70-CFE3-4A00-B602-2C8D0D30D6B0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B3049-51BA-4791-A1B5-7CABA09CE8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80427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Editați stilurile de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o-RO" smtClean="0"/>
              <a:t>Editați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Editați stilurile de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o-RO" smtClean="0"/>
              <a:t>Editați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8A70-CFE3-4A00-B602-2C8D0D30D6B0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B3049-51BA-4791-A1B5-7CABA09CE8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00501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8A70-CFE3-4A00-B602-2C8D0D30D6B0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B3049-51BA-4791-A1B5-7CABA09CE8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085998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8A70-CFE3-4A00-B602-2C8D0D30D6B0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B3049-51BA-4791-A1B5-7CABA09CE8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77848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 smtClean="0"/>
              <a:t>Editați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 smtClean="0"/>
              <a:t>Editați stilurile de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8A70-CFE3-4A00-B602-2C8D0D30D6B0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B3049-51BA-4791-A1B5-7CABA09CE8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53871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o-RO" smtClean="0"/>
              <a:t>Editați stilurile de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8A70-CFE3-4A00-B602-2C8D0D30D6B0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B3049-51BA-4791-A1B5-7CABA09CE8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835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 smtClean="0"/>
              <a:t>Editați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8A70-CFE3-4A00-B602-2C8D0D30D6B0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B3049-51BA-4791-A1B5-7CABA09CE8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84431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o-RO" smtClean="0"/>
              <a:t>Editați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4E8A70-CFE3-4A00-B602-2C8D0D30D6B0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9B3049-51BA-4791-A1B5-7CABA09CE8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1009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Editați stilurile de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4E8A70-CFE3-4A00-B602-2C8D0D30D6B0}" type="datetimeFigureOut">
              <a:rPr lang="en-US" smtClean="0"/>
              <a:pPr/>
              <a:t>1/30/2024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9B3049-51BA-4791-A1B5-7CABA09CE86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7899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-2844800" y="188278"/>
            <a:ext cx="9144000" cy="1655762"/>
          </a:xfrm>
        </p:spPr>
        <p:txBody>
          <a:bodyPr/>
          <a:lstStyle/>
          <a:p>
            <a:r>
              <a:rPr lang="en-US" dirty="0" err="1" smtClean="0"/>
              <a:t>Cretu</a:t>
            </a:r>
            <a:r>
              <a:rPr lang="en-US" dirty="0" smtClean="0"/>
              <a:t> Maria-Magdalena</a:t>
            </a:r>
            <a:endParaRPr lang="en-US" dirty="0" smtClean="0"/>
          </a:p>
          <a:p>
            <a:r>
              <a:rPr lang="en-US" dirty="0" err="1" smtClean="0"/>
              <a:t>Grupa</a:t>
            </a:r>
            <a:r>
              <a:rPr lang="en-US" dirty="0" smtClean="0"/>
              <a:t> </a:t>
            </a:r>
            <a:r>
              <a:rPr lang="en-US" dirty="0" smtClean="0"/>
              <a:t>2122</a:t>
            </a:r>
            <a:endParaRPr lang="en-US" dirty="0"/>
          </a:p>
        </p:txBody>
      </p:sp>
      <p:sp>
        <p:nvSpPr>
          <p:cNvPr id="4" name="Dreptunghi 3"/>
          <p:cNvSpPr/>
          <p:nvPr/>
        </p:nvSpPr>
        <p:spPr>
          <a:xfrm>
            <a:off x="1470930" y="2615962"/>
            <a:ext cx="9197070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AMPLIFICATOR SUMATOR</a:t>
            </a:r>
            <a:endParaRPr lang="ro-RO" sz="66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pic>
        <p:nvPicPr>
          <p:cNvPr id="5" name="Imagin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441941" y="5212080"/>
            <a:ext cx="1566534" cy="102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74103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582301" y="150913"/>
            <a:ext cx="8900160" cy="838517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Prezentare</a:t>
            </a:r>
            <a:r>
              <a:rPr lang="en-US" dirty="0" smtClean="0"/>
              <a:t> </a:t>
            </a:r>
            <a:r>
              <a:rPr lang="en-US" dirty="0" err="1" smtClean="0"/>
              <a:t>interf</a:t>
            </a:r>
            <a:r>
              <a:rPr lang="ro-RO" dirty="0" smtClean="0"/>
              <a:t>ață</a:t>
            </a:r>
            <a:endParaRPr lang="en-US" dirty="0"/>
          </a:p>
        </p:txBody>
      </p:sp>
      <p:pic>
        <p:nvPicPr>
          <p:cNvPr id="5" name="Imagin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6572" y="1448117"/>
            <a:ext cx="8542302" cy="4805045"/>
          </a:xfrm>
          <a:prstGeom prst="rect">
            <a:avLst/>
          </a:prstGeom>
        </p:spPr>
      </p:pic>
      <p:cxnSp>
        <p:nvCxnSpPr>
          <p:cNvPr id="7" name="Conector drept cu săgeată 6"/>
          <p:cNvCxnSpPr/>
          <p:nvPr/>
        </p:nvCxnSpPr>
        <p:spPr>
          <a:xfrm flipV="1">
            <a:off x="4094480" y="1351280"/>
            <a:ext cx="5598160" cy="1310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Dreptunghi 7"/>
          <p:cNvSpPr/>
          <p:nvPr/>
        </p:nvSpPr>
        <p:spPr>
          <a:xfrm>
            <a:off x="9096281" y="989430"/>
            <a:ext cx="309571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Buton care duce către circuitul </a:t>
            </a:r>
          </a:p>
          <a:p>
            <a:pPr algn="ctr"/>
            <a:r>
              <a:rPr lang="ro-RO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 însumare inversor</a:t>
            </a:r>
            <a:endParaRPr lang="ro-RO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" name="Conector drept cu săgeată 9"/>
          <p:cNvCxnSpPr/>
          <p:nvPr/>
        </p:nvCxnSpPr>
        <p:spPr>
          <a:xfrm>
            <a:off x="3495040" y="3850640"/>
            <a:ext cx="5902960" cy="5181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Dreptunghi 10"/>
          <p:cNvSpPr/>
          <p:nvPr/>
        </p:nvSpPr>
        <p:spPr>
          <a:xfrm>
            <a:off x="8772922" y="4018637"/>
            <a:ext cx="3419078" cy="153888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Buton care duce către circuitul </a:t>
            </a:r>
          </a:p>
          <a:p>
            <a:pPr algn="ctr"/>
            <a:r>
              <a:rPr lang="ro-RO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 însumare </a:t>
            </a:r>
            <a:r>
              <a:rPr lang="ro-RO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neinversor</a:t>
            </a:r>
            <a:endParaRPr lang="ro-RO" sz="20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o-RO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5290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797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Prezentare</a:t>
            </a:r>
            <a:r>
              <a:rPr lang="en-US" dirty="0" smtClean="0"/>
              <a:t> </a:t>
            </a:r>
            <a:r>
              <a:rPr lang="en-US" dirty="0" err="1" smtClean="0"/>
              <a:t>interf</a:t>
            </a:r>
            <a:r>
              <a:rPr lang="ro-RO" dirty="0" smtClean="0"/>
              <a:t>ață</a:t>
            </a:r>
            <a:endParaRPr lang="en-US" dirty="0"/>
          </a:p>
        </p:txBody>
      </p:sp>
      <p:pic>
        <p:nvPicPr>
          <p:cNvPr id="4" name="I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2000" y="1697171"/>
            <a:ext cx="6044247" cy="4275004"/>
          </a:xfrm>
          <a:prstGeom prst="rect">
            <a:avLst/>
          </a:prstGeom>
        </p:spPr>
      </p:pic>
      <p:cxnSp>
        <p:nvCxnSpPr>
          <p:cNvPr id="8" name="Conector drept cu săgeată 7"/>
          <p:cNvCxnSpPr/>
          <p:nvPr/>
        </p:nvCxnSpPr>
        <p:spPr>
          <a:xfrm flipH="1">
            <a:off x="4206240" y="2397760"/>
            <a:ext cx="3108960" cy="3759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Dreptunghi 8"/>
          <p:cNvSpPr/>
          <p:nvPr/>
        </p:nvSpPr>
        <p:spPr>
          <a:xfrm>
            <a:off x="467243" y="2803267"/>
            <a:ext cx="5188472" cy="206210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Meniu ce </a:t>
            </a:r>
            <a:r>
              <a:rPr lang="ro-RO" sz="32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contine</a:t>
            </a:r>
            <a:r>
              <a:rPr lang="ro-RO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o-RO" sz="32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submeniuri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ro-RO" sz="32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ro-RO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pagina de start, teorie,</a:t>
            </a:r>
          </a:p>
          <a:p>
            <a:pPr algn="ctr"/>
            <a:r>
              <a:rPr lang="ro-RO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bibliografie </a:t>
            </a:r>
          </a:p>
          <a:p>
            <a:pPr algn="ctr"/>
            <a:r>
              <a:rPr lang="ro-RO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 </a:t>
            </a:r>
            <a:r>
              <a:rPr lang="ro-RO" sz="32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iesire</a:t>
            </a:r>
            <a:endParaRPr lang="ro-RO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04543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70400" y="1168913"/>
            <a:ext cx="7595403" cy="5279158"/>
          </a:xfrm>
          <a:prstGeom prst="rect">
            <a:avLst/>
          </a:prstGeom>
        </p:spPr>
      </p:pic>
      <p:sp>
        <p:nvSpPr>
          <p:cNvPr id="6" name="Dreptunghi 5"/>
          <p:cNvSpPr/>
          <p:nvPr/>
        </p:nvSpPr>
        <p:spPr>
          <a:xfrm>
            <a:off x="82537" y="584138"/>
            <a:ext cx="621541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3200" b="1" cap="none" spc="0" dirty="0" err="1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Interfata</a:t>
            </a:r>
            <a:r>
              <a:rPr lang="ro-RO" sz="3200" b="1" cap="none" spc="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pentru sumatorul inversor</a:t>
            </a:r>
            <a:endParaRPr lang="ro-RO" sz="3200" b="1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Dreptunghi 7"/>
          <p:cNvSpPr/>
          <p:nvPr/>
        </p:nvSpPr>
        <p:spPr>
          <a:xfrm>
            <a:off x="6350000" y="112312"/>
            <a:ext cx="65728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o-RO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Valorile pentru cele</a:t>
            </a:r>
          </a:p>
          <a:p>
            <a:pPr algn="ctr"/>
            <a:r>
              <a:rPr lang="ro-RO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doua </a:t>
            </a:r>
            <a:r>
              <a:rPr lang="ro-RO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intrari</a:t>
            </a:r>
            <a:r>
              <a:rPr lang="ro-RO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ale </a:t>
            </a:r>
            <a:r>
              <a:rPr lang="ro-RO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sumatorului, ce pot fi modificate</a:t>
            </a:r>
            <a:endParaRPr lang="ro-RO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0" name="Conector drept cu săgeată 9"/>
          <p:cNvCxnSpPr/>
          <p:nvPr/>
        </p:nvCxnSpPr>
        <p:spPr>
          <a:xfrm flipV="1">
            <a:off x="9113520" y="843280"/>
            <a:ext cx="396240" cy="12395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Dreptunghi 11"/>
          <p:cNvSpPr/>
          <p:nvPr/>
        </p:nvSpPr>
        <p:spPr>
          <a:xfrm>
            <a:off x="315353" y="3637280"/>
            <a:ext cx="366811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Grafice pentru tensiunile de</a:t>
            </a:r>
          </a:p>
          <a:p>
            <a:pPr algn="ctr"/>
            <a:r>
              <a:rPr lang="ro-RO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intrare Vi1, Vi2 </a:t>
            </a:r>
          </a:p>
          <a:p>
            <a:pPr algn="ctr"/>
            <a:r>
              <a:rPr lang="ro-RO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  <a:r>
              <a:rPr lang="ro-RO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 pentru tensiunea de </a:t>
            </a:r>
          </a:p>
          <a:p>
            <a:pPr algn="ctr"/>
            <a:r>
              <a:rPr lang="ro-RO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iesire</a:t>
            </a:r>
            <a:r>
              <a:rPr lang="ro-RO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o-RO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</a:t>
            </a:r>
            <a:endParaRPr lang="ro-RO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4" name="Conector drept cu săgeată 13"/>
          <p:cNvCxnSpPr/>
          <p:nvPr/>
        </p:nvCxnSpPr>
        <p:spPr>
          <a:xfrm flipH="1" flipV="1">
            <a:off x="2915920" y="4897120"/>
            <a:ext cx="30480" cy="81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ctor drept cu săgeată 15"/>
          <p:cNvCxnSpPr/>
          <p:nvPr/>
        </p:nvCxnSpPr>
        <p:spPr>
          <a:xfrm flipH="1">
            <a:off x="3190247" y="4185920"/>
            <a:ext cx="1280153" cy="609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Conector drept cu săgeată 17"/>
          <p:cNvCxnSpPr/>
          <p:nvPr/>
        </p:nvCxnSpPr>
        <p:spPr>
          <a:xfrm flipH="1" flipV="1">
            <a:off x="2946400" y="4917440"/>
            <a:ext cx="1524000" cy="528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Dreptunghi 19"/>
          <p:cNvSpPr/>
          <p:nvPr/>
        </p:nvSpPr>
        <p:spPr>
          <a:xfrm>
            <a:off x="6065520" y="581712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o-RO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Buton pentru resetarea </a:t>
            </a:r>
          </a:p>
          <a:p>
            <a:pPr algn="ctr"/>
            <a:r>
              <a:rPr lang="ro-RO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unor valori</a:t>
            </a:r>
          </a:p>
          <a:p>
            <a:pPr algn="ctr"/>
            <a:r>
              <a:rPr lang="ro-RO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din circuit</a:t>
            </a:r>
          </a:p>
        </p:txBody>
      </p:sp>
      <p:cxnSp>
        <p:nvCxnSpPr>
          <p:cNvPr id="22" name="Conector drept cu săgeată 21"/>
          <p:cNvCxnSpPr/>
          <p:nvPr/>
        </p:nvCxnSpPr>
        <p:spPr>
          <a:xfrm flipV="1">
            <a:off x="9865360" y="5283200"/>
            <a:ext cx="558800" cy="63149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Dreptunghi 22"/>
          <p:cNvSpPr/>
          <p:nvPr/>
        </p:nvSpPr>
        <p:spPr>
          <a:xfrm>
            <a:off x="503387" y="1381373"/>
            <a:ext cx="3326936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Schema circuitului </a:t>
            </a:r>
          </a:p>
          <a:p>
            <a:pPr algn="ctr"/>
            <a:r>
              <a:rPr lang="ro-RO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  <a:r>
              <a:rPr lang="ro-RO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umator inversor</a:t>
            </a:r>
            <a:endParaRPr lang="ro-RO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5" name="Conector drept cu săgeată 24"/>
          <p:cNvCxnSpPr/>
          <p:nvPr/>
        </p:nvCxnSpPr>
        <p:spPr>
          <a:xfrm>
            <a:off x="3370179" y="2458591"/>
            <a:ext cx="173014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01369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-1066800" y="472123"/>
            <a:ext cx="8818880" cy="1122997"/>
          </a:xfrm>
        </p:spPr>
        <p:txBody>
          <a:bodyPr>
            <a:normAutofit fontScale="90000"/>
          </a:bodyPr>
          <a:lstStyle/>
          <a:p>
            <a:r>
              <a:rPr lang="ro-RO" sz="3600" b="1" dirty="0" err="1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Interfata</a:t>
            </a:r>
            <a:r>
              <a:rPr lang="ro-RO" sz="36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pentru </a:t>
            </a:r>
            <a:r>
              <a:rPr lang="ro-RO" sz="3600" b="1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sumatorul inversor</a:t>
            </a:r>
            <a:r>
              <a:rPr lang="ro-RO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/>
            </a:r>
            <a:br>
              <a:rPr lang="ro-RO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dirty="0"/>
          </a:p>
        </p:txBody>
      </p:sp>
      <p:cxnSp>
        <p:nvCxnSpPr>
          <p:cNvPr id="8" name="Conector drept cu săgeată 7"/>
          <p:cNvCxnSpPr/>
          <p:nvPr/>
        </p:nvCxnSpPr>
        <p:spPr>
          <a:xfrm>
            <a:off x="1940560" y="-233680"/>
            <a:ext cx="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rept cu săgeată 9"/>
          <p:cNvCxnSpPr/>
          <p:nvPr/>
        </p:nvCxnSpPr>
        <p:spPr>
          <a:xfrm flipH="1" flipV="1">
            <a:off x="9428480" y="3860800"/>
            <a:ext cx="457200" cy="1270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Dreptunghi 10"/>
          <p:cNvSpPr/>
          <p:nvPr/>
        </p:nvSpPr>
        <p:spPr>
          <a:xfrm>
            <a:off x="295628" y="5698607"/>
            <a:ext cx="2043701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2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ro-RO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vem o limitare a </a:t>
            </a:r>
          </a:p>
          <a:p>
            <a:pPr algn="ctr"/>
            <a:r>
              <a:rPr lang="ro-RO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tensiunii la +-1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ro-RO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</a:t>
            </a:r>
            <a:endParaRPr lang="ro-RO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Dreptunghi 13"/>
          <p:cNvSpPr/>
          <p:nvPr/>
        </p:nvSpPr>
        <p:spPr>
          <a:xfrm>
            <a:off x="295628" y="1979394"/>
            <a:ext cx="2445348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Buton</a:t>
            </a:r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din care </a:t>
            </a:r>
            <a:r>
              <a:rPr lang="en-US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putem</a:t>
            </a:r>
            <a:endParaRPr lang="en-US" sz="20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lege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tipul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 </a:t>
            </a:r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semnal</a:t>
            </a:r>
            <a:endParaRPr lang="en-US" sz="20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dorit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pentru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vi1</a:t>
            </a:r>
          </a:p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-am ales un </a:t>
            </a:r>
            <a:r>
              <a:rPr lang="en-US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semnal</a:t>
            </a:r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sinusoidal;</a:t>
            </a:r>
            <a:endParaRPr lang="ro-RO" sz="20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Imagin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740976" y="1217668"/>
            <a:ext cx="7547610" cy="5286264"/>
          </a:xfrm>
          <a:prstGeom prst="rect">
            <a:avLst/>
          </a:prstGeom>
        </p:spPr>
      </p:pic>
      <p:sp>
        <p:nvSpPr>
          <p:cNvPr id="9" name="Dreptunghi 8"/>
          <p:cNvSpPr/>
          <p:nvPr/>
        </p:nvSpPr>
        <p:spPr>
          <a:xfrm>
            <a:off x="9428480" y="202624"/>
            <a:ext cx="2402774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Pentru</a:t>
            </a:r>
            <a:r>
              <a:rPr lang="en-US" sz="1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1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semnalul</a:t>
            </a:r>
            <a:r>
              <a:rPr lang="en-US" sz="16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 </a:t>
            </a:r>
            <a:r>
              <a:rPr lang="en-US" sz="16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intrare</a:t>
            </a:r>
            <a:endParaRPr lang="en-US" sz="16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Vi2 am ales un </a:t>
            </a:r>
            <a:r>
              <a:rPr lang="en-US" sz="1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semnal</a:t>
            </a:r>
            <a:r>
              <a:rPr lang="en-US" sz="16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n-US" sz="16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dreptunghiular</a:t>
            </a:r>
            <a:endParaRPr lang="ro-RO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7" name="Conector drept cu săgeată 16"/>
          <p:cNvCxnSpPr/>
          <p:nvPr/>
        </p:nvCxnSpPr>
        <p:spPr>
          <a:xfrm flipV="1">
            <a:off x="2099388" y="5019869"/>
            <a:ext cx="1243252" cy="67873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ector drept cu săgeată 18"/>
          <p:cNvCxnSpPr/>
          <p:nvPr/>
        </p:nvCxnSpPr>
        <p:spPr>
          <a:xfrm flipH="1">
            <a:off x="9787812" y="1287624"/>
            <a:ext cx="1156996" cy="15073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Dreptunghi 19"/>
          <p:cNvSpPr/>
          <p:nvPr/>
        </p:nvSpPr>
        <p:spPr>
          <a:xfrm>
            <a:off x="10106461" y="2340218"/>
            <a:ext cx="2232727" cy="203132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Putem</a:t>
            </a:r>
            <a:r>
              <a:rPr lang="en-US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observa</a:t>
            </a:r>
            <a:r>
              <a:rPr lang="en-US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ca</a:t>
            </a:r>
          </a:p>
          <a:p>
            <a:pPr algn="ctr"/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r>
              <a:rPr lang="en-US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ele</a:t>
            </a: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doua</a:t>
            </a: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semnale</a:t>
            </a:r>
            <a:endParaRPr lang="en-US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 </a:t>
            </a:r>
            <a:r>
              <a:rPr lang="en-US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intrare</a:t>
            </a: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au</a:t>
            </a:r>
          </a:p>
          <a:p>
            <a:pPr algn="ctr"/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  <a:r>
              <a:rPr lang="en-US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recvente</a:t>
            </a:r>
            <a:r>
              <a:rPr lang="en-US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diferite</a:t>
            </a:r>
            <a:endParaRPr lang="en-US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Frecventa</a:t>
            </a: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semnalului</a:t>
            </a:r>
            <a:r>
              <a:rPr lang="en-US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r>
              <a:rPr lang="en-US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</a:t>
            </a:r>
            <a:r>
              <a:rPr lang="en-US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iesire</a:t>
            </a:r>
            <a:r>
              <a:rPr lang="en-US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n-US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</a:t>
            </a:r>
            <a:r>
              <a:rPr lang="en-US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fi </a:t>
            </a:r>
            <a:r>
              <a:rPr lang="en-US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cmmdc</a:t>
            </a:r>
            <a:r>
              <a:rPr lang="en-US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(f1,f2)</a:t>
            </a:r>
            <a:endParaRPr lang="ro-RO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5930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ine 5" descr="Proiect GAC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094" t="46181" r="-2804" b="-3373"/>
          <a:stretch/>
        </p:blipFill>
        <p:spPr>
          <a:xfrm>
            <a:off x="3238500" y="295275"/>
            <a:ext cx="9191626" cy="3311192"/>
          </a:xfrm>
          <a:prstGeom prst="rect">
            <a:avLst/>
          </a:prstGeom>
        </p:spPr>
      </p:pic>
      <p:pic>
        <p:nvPicPr>
          <p:cNvPr id="8" name="Imagin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1476" y="3823121"/>
            <a:ext cx="10058400" cy="2139116"/>
          </a:xfrm>
          <a:prstGeom prst="rect">
            <a:avLst/>
          </a:prstGeom>
        </p:spPr>
      </p:pic>
      <p:sp>
        <p:nvSpPr>
          <p:cNvPr id="9" name="Dreptunghi 8"/>
          <p:cNvSpPr/>
          <p:nvPr/>
        </p:nvSpPr>
        <p:spPr>
          <a:xfrm>
            <a:off x="312956" y="1081385"/>
            <a:ext cx="292554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prima parte, </a:t>
            </a:r>
            <a:r>
              <a:rPr lang="en-US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avem</a:t>
            </a:r>
            <a:endParaRPr lang="en-US" sz="24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un </a:t>
            </a:r>
            <a:r>
              <a:rPr lang="en-US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semnal</a:t>
            </a:r>
            <a:endParaRPr lang="en-US" sz="24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 </a:t>
            </a:r>
            <a:r>
              <a:rPr lang="en-US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fara</a:t>
            </a: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n-US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componenta</a:t>
            </a: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continua</a:t>
            </a:r>
            <a:endParaRPr lang="ro-RO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Dreptunghi 9"/>
          <p:cNvSpPr/>
          <p:nvPr/>
        </p:nvSpPr>
        <p:spPr>
          <a:xfrm>
            <a:off x="9468091" y="3667301"/>
            <a:ext cx="2810128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Prin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bifarea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casetei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“DC” </a:t>
            </a:r>
          </a:p>
          <a:p>
            <a:pPr algn="ctr"/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semnalul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 </a:t>
            </a:r>
          </a:p>
          <a:p>
            <a:pPr algn="ctr"/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intrare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vi1 </a:t>
            </a:r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sau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vi2 </a:t>
            </a:r>
          </a:p>
          <a:p>
            <a:pPr algn="ctr"/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va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avea</a:t>
            </a:r>
            <a:endParaRPr lang="en-US" sz="20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0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componenta</a:t>
            </a:r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continua </a:t>
            </a:r>
          </a:p>
          <a:p>
            <a:pPr algn="ctr"/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 1V</a:t>
            </a:r>
            <a:endParaRPr lang="ro-RO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Conector drept cu săgeată 11"/>
          <p:cNvCxnSpPr/>
          <p:nvPr/>
        </p:nvCxnSpPr>
        <p:spPr>
          <a:xfrm flipH="1" flipV="1">
            <a:off x="4646645" y="4892679"/>
            <a:ext cx="3470988" cy="30447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52897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-132080" y="1122363"/>
            <a:ext cx="10800080" cy="493077"/>
          </a:xfrm>
        </p:spPr>
        <p:txBody>
          <a:bodyPr>
            <a:normAutofit fontScale="90000"/>
          </a:bodyPr>
          <a:lstStyle/>
          <a:p>
            <a:r>
              <a:rPr lang="ro-RO" sz="4000" b="1" dirty="0" err="1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Interfata</a:t>
            </a:r>
            <a:r>
              <a:rPr lang="ro-RO" sz="40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pentru sumatorul </a:t>
            </a:r>
            <a:r>
              <a:rPr lang="ro-RO" sz="4000" b="1" dirty="0" err="1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neinversor</a:t>
            </a:r>
            <a:r>
              <a:rPr lang="ro-RO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/>
            </a:r>
            <a:br>
              <a:rPr lang="ro-RO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US" dirty="0"/>
          </a:p>
        </p:txBody>
      </p:sp>
      <p:pic>
        <p:nvPicPr>
          <p:cNvPr id="8" name="Imagin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951242" y="1294984"/>
            <a:ext cx="6646637" cy="4652128"/>
          </a:xfrm>
          <a:prstGeom prst="rect">
            <a:avLst/>
          </a:prstGeom>
        </p:spPr>
      </p:pic>
      <p:sp>
        <p:nvSpPr>
          <p:cNvPr id="9" name="Dreptunghi 8"/>
          <p:cNvSpPr/>
          <p:nvPr/>
        </p:nvSpPr>
        <p:spPr>
          <a:xfrm>
            <a:off x="0" y="1503729"/>
            <a:ext cx="3433952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Schema circuitului </a:t>
            </a:r>
          </a:p>
          <a:p>
            <a:pPr algn="ctr"/>
            <a:r>
              <a:rPr lang="ro-RO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sumator </a:t>
            </a:r>
            <a:r>
              <a:rPr lang="ro-RO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neinversor</a:t>
            </a:r>
            <a:endParaRPr lang="ro-RO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Dreptunghi 9"/>
          <p:cNvSpPr/>
          <p:nvPr/>
        </p:nvSpPr>
        <p:spPr>
          <a:xfrm>
            <a:off x="59538" y="3546455"/>
            <a:ext cx="3668119" cy="240065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Grafice pentru tensiunile de</a:t>
            </a:r>
          </a:p>
          <a:p>
            <a:pPr algn="ctr"/>
            <a:r>
              <a:rPr lang="ro-RO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intrare Vi1, Vi2 </a:t>
            </a:r>
          </a:p>
          <a:p>
            <a:pPr algn="ctr"/>
            <a:r>
              <a:rPr lang="ro-RO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</a:t>
            </a:r>
            <a:r>
              <a:rPr lang="ro-RO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 pentru tensiunea de </a:t>
            </a:r>
          </a:p>
          <a:p>
            <a:pPr algn="ctr"/>
            <a:r>
              <a:rPr lang="ro-RO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iesire</a:t>
            </a:r>
            <a:r>
              <a:rPr lang="ro-RO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ro-RO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</a:t>
            </a:r>
            <a:endParaRPr lang="ro-RO" sz="2400" b="0" cap="none" spc="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ro-RO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2" name="Conector drept cu săgeată 11"/>
          <p:cNvCxnSpPr/>
          <p:nvPr/>
        </p:nvCxnSpPr>
        <p:spPr>
          <a:xfrm>
            <a:off x="3444240" y="2071886"/>
            <a:ext cx="701040" cy="4038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ector drept cu săgeată 13"/>
          <p:cNvCxnSpPr/>
          <p:nvPr/>
        </p:nvCxnSpPr>
        <p:spPr>
          <a:xfrm>
            <a:off x="1893597" y="-314960"/>
            <a:ext cx="63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rept cu săgeată 15"/>
          <p:cNvCxnSpPr/>
          <p:nvPr/>
        </p:nvCxnSpPr>
        <p:spPr>
          <a:xfrm>
            <a:off x="3342640" y="4206240"/>
            <a:ext cx="904240" cy="20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Dreptunghi 16"/>
          <p:cNvSpPr/>
          <p:nvPr/>
        </p:nvSpPr>
        <p:spPr>
          <a:xfrm>
            <a:off x="7925384" y="517751"/>
            <a:ext cx="426661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Butoane tip text si </a:t>
            </a:r>
          </a:p>
          <a:p>
            <a:pPr algn="ctr"/>
            <a:r>
              <a:rPr lang="ro-RO" sz="24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edit</a:t>
            </a:r>
            <a:r>
              <a:rPr lang="ro-RO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pentru parametrii circuitului</a:t>
            </a:r>
            <a:endParaRPr lang="ro-RO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9" name="Conector drept cu săgeată 18"/>
          <p:cNvCxnSpPr/>
          <p:nvPr/>
        </p:nvCxnSpPr>
        <p:spPr>
          <a:xfrm flipH="1">
            <a:off x="9093200" y="1245019"/>
            <a:ext cx="396240" cy="92043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Conector drept cu săgeată 22"/>
          <p:cNvCxnSpPr/>
          <p:nvPr/>
        </p:nvCxnSpPr>
        <p:spPr>
          <a:xfrm flipH="1">
            <a:off x="10403840" y="1245019"/>
            <a:ext cx="172720" cy="2392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reptunghi 23"/>
          <p:cNvSpPr/>
          <p:nvPr/>
        </p:nvSpPr>
        <p:spPr>
          <a:xfrm>
            <a:off x="7293744" y="5997077"/>
            <a:ext cx="4391395" cy="153888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20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pushbutton</a:t>
            </a:r>
            <a:r>
              <a:rPr lang="ro-RO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pentru resetarea unor valori</a:t>
            </a:r>
          </a:p>
          <a:p>
            <a:pPr algn="ctr"/>
            <a:r>
              <a:rPr lang="ro-RO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din circuit</a:t>
            </a:r>
          </a:p>
          <a:p>
            <a:pPr algn="ctr"/>
            <a:endParaRPr lang="ro-RO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6" name="Conector drept cu săgeată 25"/>
          <p:cNvCxnSpPr/>
          <p:nvPr/>
        </p:nvCxnSpPr>
        <p:spPr>
          <a:xfrm flipH="1" flipV="1">
            <a:off x="10058692" y="4947920"/>
            <a:ext cx="233388" cy="104915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31126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508000" y="218123"/>
            <a:ext cx="9144000" cy="665797"/>
          </a:xfrm>
        </p:spPr>
        <p:txBody>
          <a:bodyPr>
            <a:normAutofit/>
          </a:bodyPr>
          <a:lstStyle/>
          <a:p>
            <a:r>
              <a:rPr lang="ro-RO" sz="3600" b="1" dirty="0" err="1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Interfata</a:t>
            </a:r>
            <a:r>
              <a:rPr lang="ro-RO" sz="36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pentru sumatorul </a:t>
            </a:r>
            <a:r>
              <a:rPr lang="ro-RO" sz="3600" b="1" dirty="0" err="1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neinversor</a:t>
            </a:r>
            <a:endParaRPr lang="en-US" sz="3600" dirty="0"/>
          </a:p>
        </p:txBody>
      </p:sp>
      <p:pic>
        <p:nvPicPr>
          <p:cNvPr id="4" name="I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00475" y="1360204"/>
            <a:ext cx="7347609" cy="5175022"/>
          </a:xfrm>
          <a:prstGeom prst="rect">
            <a:avLst/>
          </a:prstGeom>
        </p:spPr>
      </p:pic>
      <p:sp>
        <p:nvSpPr>
          <p:cNvPr id="5" name="Dreptunghi 4"/>
          <p:cNvSpPr/>
          <p:nvPr/>
        </p:nvSpPr>
        <p:spPr>
          <a:xfrm>
            <a:off x="7881532" y="1185138"/>
            <a:ext cx="4170885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Avem doua semnale de </a:t>
            </a:r>
          </a:p>
          <a:p>
            <a:pPr algn="ctr"/>
            <a:r>
              <a:rPr lang="ro-RO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intrare dreptunghiulare</a:t>
            </a:r>
            <a:endParaRPr lang="ro-RO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Dreptunghi 5"/>
          <p:cNvSpPr/>
          <p:nvPr/>
        </p:nvSpPr>
        <p:spPr>
          <a:xfrm>
            <a:off x="7917376" y="2378055"/>
            <a:ext cx="409920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o-RO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Observam ca daca </a:t>
            </a:r>
          </a:p>
          <a:p>
            <a:pPr algn="ctr"/>
            <a:r>
              <a:rPr lang="ro-RO" sz="3200" b="0" cap="none" spc="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R1=R2=R3=R4</a:t>
            </a:r>
            <a:r>
              <a:rPr lang="en-US" sz="3200" b="0" cap="none" spc="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(=5Ohm)</a:t>
            </a:r>
            <a:endParaRPr lang="ro-RO" sz="3200" b="0" cap="none" spc="0" dirty="0" smtClean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3200" dirty="0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=&gt; Vo=Vi1+Vi2</a:t>
            </a:r>
            <a:endParaRPr lang="ro-RO" sz="3200" b="0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9" name="Conector drept 8"/>
          <p:cNvCxnSpPr/>
          <p:nvPr/>
        </p:nvCxnSpPr>
        <p:spPr>
          <a:xfrm>
            <a:off x="5716405" y="4712449"/>
            <a:ext cx="1920240" cy="3048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drept 10"/>
          <p:cNvCxnSpPr/>
          <p:nvPr/>
        </p:nvCxnSpPr>
        <p:spPr>
          <a:xfrm>
            <a:off x="5716406" y="4612640"/>
            <a:ext cx="13834" cy="30121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Conector drept 13"/>
          <p:cNvCxnSpPr/>
          <p:nvPr/>
        </p:nvCxnSpPr>
        <p:spPr>
          <a:xfrm>
            <a:off x="5730240" y="5106898"/>
            <a:ext cx="192024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Conector drept 15"/>
          <p:cNvCxnSpPr/>
          <p:nvPr/>
        </p:nvCxnSpPr>
        <p:spPr>
          <a:xfrm>
            <a:off x="7650480" y="4612640"/>
            <a:ext cx="0" cy="3012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rept 17"/>
          <p:cNvCxnSpPr/>
          <p:nvPr/>
        </p:nvCxnSpPr>
        <p:spPr>
          <a:xfrm flipV="1">
            <a:off x="5716406" y="4409440"/>
            <a:ext cx="1934074" cy="2032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Conector drept 19"/>
          <p:cNvCxnSpPr/>
          <p:nvPr/>
        </p:nvCxnSpPr>
        <p:spPr>
          <a:xfrm>
            <a:off x="7650480" y="4311422"/>
            <a:ext cx="0" cy="33169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Conector drept 21"/>
          <p:cNvCxnSpPr/>
          <p:nvPr/>
        </p:nvCxnSpPr>
        <p:spPr>
          <a:xfrm flipV="1">
            <a:off x="3616960" y="2262356"/>
            <a:ext cx="4033520" cy="115699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Conector drept 23"/>
          <p:cNvCxnSpPr/>
          <p:nvPr/>
        </p:nvCxnSpPr>
        <p:spPr>
          <a:xfrm flipV="1">
            <a:off x="3789680" y="2550160"/>
            <a:ext cx="4091852" cy="7112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ector drept 25"/>
          <p:cNvCxnSpPr/>
          <p:nvPr/>
        </p:nvCxnSpPr>
        <p:spPr>
          <a:xfrm>
            <a:off x="3718560" y="2360374"/>
            <a:ext cx="0" cy="30037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149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244426" y="1828800"/>
            <a:ext cx="8703733" cy="4895850"/>
          </a:xfrm>
          <a:prstGeom prst="rect">
            <a:avLst/>
          </a:prstGeom>
        </p:spPr>
      </p:pic>
      <p:pic>
        <p:nvPicPr>
          <p:cNvPr id="6" name="Imagin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5510" t="-41149" r="8181" b="68278"/>
          <a:stretch/>
        </p:blipFill>
        <p:spPr>
          <a:xfrm>
            <a:off x="315913" y="-2050415"/>
            <a:ext cx="6206808" cy="3706495"/>
          </a:xfrm>
          <a:prstGeom prst="rect">
            <a:avLst/>
          </a:prstGeom>
        </p:spPr>
      </p:pic>
      <p:cxnSp>
        <p:nvCxnSpPr>
          <p:cNvPr id="8" name="Conector drept cu săgeată 7"/>
          <p:cNvCxnSpPr/>
          <p:nvPr/>
        </p:nvCxnSpPr>
        <p:spPr>
          <a:xfrm>
            <a:off x="2346960" y="904240"/>
            <a:ext cx="6075680" cy="8229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Dreptunghi 8"/>
          <p:cNvSpPr/>
          <p:nvPr/>
        </p:nvSpPr>
        <p:spPr>
          <a:xfrm>
            <a:off x="203175" y="2967335"/>
            <a:ext cx="4084387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Aici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apar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cateva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notiuni</a:t>
            </a:r>
            <a:endParaRPr lang="en-US" sz="32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teoretice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de</a:t>
            </a:r>
          </a:p>
          <a:p>
            <a:pPr algn="ctr"/>
            <a:r>
              <a:rPr lang="en-US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r>
              <a:rPr lang="en-US" sz="32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aza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, </a:t>
            </a:r>
          </a:p>
          <a:p>
            <a:pPr algn="ctr"/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precum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cele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doua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formule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pentru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r>
              <a:rPr lang="en-US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Vo </a:t>
            </a:r>
            <a:r>
              <a:rPr lang="en-US" sz="3200" b="0" cap="none" spc="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utilizate</a:t>
            </a:r>
            <a:r>
              <a:rPr lang="en-US" sz="3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endParaRPr lang="ro-RO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Dreptunghi 9"/>
          <p:cNvSpPr/>
          <p:nvPr/>
        </p:nvSpPr>
        <p:spPr>
          <a:xfrm>
            <a:off x="8553768" y="392390"/>
            <a:ext cx="19168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 smtClean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Teorie</a:t>
            </a:r>
            <a:endParaRPr lang="ro-RO" sz="5400" b="0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22620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003" y="1798320"/>
            <a:ext cx="3048096" cy="4795520"/>
          </a:xfrm>
          <a:prstGeom prst="rect">
            <a:avLst/>
          </a:prstGeom>
        </p:spPr>
      </p:pic>
      <p:pic>
        <p:nvPicPr>
          <p:cNvPr id="5" name="Imagin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95768" y="772159"/>
            <a:ext cx="5068079" cy="3584575"/>
          </a:xfrm>
          <a:prstGeom prst="rect">
            <a:avLst/>
          </a:prstGeom>
        </p:spPr>
      </p:pic>
      <p:cxnSp>
        <p:nvCxnSpPr>
          <p:cNvPr id="7" name="Conector drept cu săgeată 6"/>
          <p:cNvCxnSpPr/>
          <p:nvPr/>
        </p:nvCxnSpPr>
        <p:spPr>
          <a:xfrm flipH="1">
            <a:off x="3200400" y="1554480"/>
            <a:ext cx="3515360" cy="11988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870685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258</Words>
  <Application>Microsoft Office PowerPoint</Application>
  <PresentationFormat>Particularizare</PresentationFormat>
  <Paragraphs>79</Paragraphs>
  <Slides>10</Slides>
  <Notes>2</Notes>
  <HiddenSlides>0</HiddenSlides>
  <MMClips>0</MMClips>
  <ScaleCrop>false</ScaleCrop>
  <HeadingPairs>
    <vt:vector size="4" baseType="variant">
      <vt:variant>
        <vt:lpstr>Temă</vt:lpstr>
      </vt:variant>
      <vt:variant>
        <vt:i4>1</vt:i4>
      </vt:variant>
      <vt:variant>
        <vt:lpstr>Titluri diapozitive</vt:lpstr>
      </vt:variant>
      <vt:variant>
        <vt:i4>10</vt:i4>
      </vt:variant>
    </vt:vector>
  </HeadingPairs>
  <TitlesOfParts>
    <vt:vector size="11" baseType="lpstr">
      <vt:lpstr>Temă Office</vt:lpstr>
      <vt:lpstr>Diapozitivul 1</vt:lpstr>
      <vt:lpstr>Prezentare interfață</vt:lpstr>
      <vt:lpstr>Prezentare interfață</vt:lpstr>
      <vt:lpstr>Diapozitivul 4</vt:lpstr>
      <vt:lpstr>Interfata pentru sumatorul inversor </vt:lpstr>
      <vt:lpstr>Diapozitivul 6</vt:lpstr>
      <vt:lpstr>Interfata pentru sumatorul neinversor </vt:lpstr>
      <vt:lpstr>Interfata pentru sumatorul neinversor</vt:lpstr>
      <vt:lpstr>Diapozitivul 9</vt:lpstr>
      <vt:lpstr>Diapozitivul 10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Iuliana Denisa Trofin</dc:creator>
  <cp:lastModifiedBy>adina</cp:lastModifiedBy>
  <cp:revision>19</cp:revision>
  <dcterms:created xsi:type="dcterms:W3CDTF">2023-01-09T20:08:53Z</dcterms:created>
  <dcterms:modified xsi:type="dcterms:W3CDTF">2024-01-30T09:58:51Z</dcterms:modified>
</cp:coreProperties>
</file>